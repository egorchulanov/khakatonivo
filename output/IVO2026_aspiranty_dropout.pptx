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c5bae37e-839f-d1e1-459a-e68588cf2795}">
          <p14:sldIdLst>
            <p14:sldId id="256"/>
          </p14:sldIdLst>
        </p14:section>
        <p14:section name="Вопрос и данные" id="{9f3d3219-19e5-6379-3d1b-c4ee5362a361}">
          <p14:sldIdLst>
            <p14:sldId id="257"/>
            <p14:sldId id="258"/>
          </p14:sldIdLst>
        </p14:section>
        <p14:section name="Методы" id="{6db80f17-673a-cf09-3ed7-d939f3299ff1}">
          <p14:sldIdLst>
            <p14:sldId id="259"/>
          </p14:sldIdLst>
        </p14:section>
        <p14:section name="Результаты" id="{3a467fc7-25c9-13c5-7c97-aedfcc7b519d}">
          <p14:sldIdLst>
            <p14:sldId id="260"/>
            <p14:sldId id="261"/>
            <p14:sldId id="262"/>
            <p14:sldId id="263"/>
            <p14:sldId id="264"/>
          </p14:sldIdLst>
        </p14:section>
        <p14:section name="Выводы" id="{6e975efc-28e8-c59c-fc97-afbb26e034e4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Тип занятости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Тип занятости</c:v>
                </c:pt>
              </c:strCache>
            </c:strRef>
          </c:tx>
          <c:spPr>
            <a:solidFill>
              <a:srgbClr val="B9B8B2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Нет</c:v>
                  </c:pt>
                  <c:pt idx="1">
                    <c:v>Подраб.</c:v>
                  </c:pt>
                  <c:pt idx="2">
                    <c:v>Неполн.</c:v>
                  </c:pt>
                  <c:pt idx="3">
                    <c:v>ПД вуз</c:v>
                  </c:pt>
                  <c:pt idx="4">
                    <c:v>ПД вне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0.2446</c:v>
                </c:pt>
                <c:pt idx="1">
                  <c:v>0.2146</c:v>
                </c:pt>
                <c:pt idx="2">
                  <c:v>0.1975</c:v>
                </c:pt>
                <c:pt idx="3">
                  <c:v>0.2088</c:v>
                </c:pt>
                <c:pt idx="4">
                  <c:v>0.2235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Удовл. руководителем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Удовл. руководителем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Совсем нет</c:v>
                  </c:pt>
                  <c:pt idx="1">
                    <c:v>Скорее нет</c:v>
                  </c:pt>
                  <c:pt idx="2">
                    <c:v>Скорее да</c:v>
                  </c:pt>
                  <c:pt idx="3">
                    <c:v>Полн.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0.5497</c:v>
                </c:pt>
                <c:pt idx="1">
                  <c:v>0.6116</c:v>
                </c:pt>
                <c:pt idx="2">
                  <c:v>0.3203</c:v>
                </c:pt>
                <c:pt idx="3">
                  <c:v>0.1269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Принадлежность (1–4)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Принадлежность (1–4)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≤2.5</c:v>
                  </c:pt>
                  <c:pt idx="1">
                    <c:v>2.5–3</c:v>
                  </c:pt>
                  <c:pt idx="2">
                    <c:v>3–3.5</c:v>
                  </c:pt>
                  <c:pt idx="3">
                    <c:v>3.5–4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0.5488</c:v>
                </c:pt>
                <c:pt idx="1">
                  <c:v>0.296</c:v>
                </c:pt>
                <c:pt idx="2">
                  <c:v>0.1883</c:v>
                </c:pt>
                <c:pt idx="3">
                  <c:v>0.0956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Депр. симптомы PHQ-8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Депр. симптомы PHQ-8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0–4</c:v>
                  </c:pt>
                  <c:pt idx="1">
                    <c:v>5–9</c:v>
                  </c:pt>
                  <c:pt idx="2">
                    <c:v>10–14</c:v>
                  </c:pt>
                  <c:pt idx="3">
                    <c:v>15+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0.0929</c:v>
                </c:pt>
                <c:pt idx="1">
                  <c:v>0.22</c:v>
                </c:pt>
                <c:pt idx="2">
                  <c:v>0.3491</c:v>
                </c:pt>
                <c:pt idx="3">
                  <c:v>0.5221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Вклад блока в псевдо-R² (декомпозиция Шепли)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Ментальное здоровье</c:v>
                  </c:pt>
                  <c:pt idx="1">
                    <c:v>Академическая среда</c:v>
                  </c:pt>
                  <c:pt idx="2">
                    <c:v>Мотивация</c:v>
                  </c:pt>
                  <c:pt idx="3">
                    <c:v>Научный руководитель</c:v>
                  </c:pt>
                  <c:pt idx="4">
                    <c:v>Соцдем и программа</c:v>
                  </c:pt>
                  <c:pt idx="5">
                    <c:v>Публикации</c:v>
                  </c:pt>
                  <c:pt idx="6">
                    <c:v>Занятость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0.25602044690783937</c:v>
                </c:pt>
                <c:pt idx="1">
                  <c:v>0.23339779000021796</c:v>
                </c:pt>
                <c:pt idx="2">
                  <c:v>0.21914941876452498</c:v>
                </c:pt>
                <c:pt idx="3">
                  <c:v>0.17712869965079045</c:v>
                </c:pt>
                <c:pt idx="4">
                  <c:v>0.07510857929843126</c:v>
                </c:pt>
                <c:pt idx="5">
                  <c:v>0.02273840728953265</c:v>
                </c:pt>
                <c:pt idx="6">
                  <c:v>0.016456658088663454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FFFFFF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FFFFFF"/>
                </a:solidFill>
                <a:latin typeface="+mn-lt"/>
              </a:rPr>
              <a:t>Снижение доли «хочу бросить», п.п. (база 20%)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Комплекс: встречи + принадлежность + помощь</c:v>
                  </c:pt>
                  <c:pt idx="1">
                    <c:v>Принадлежность ниже медианы → медиана</c:v>
                  </c:pt>
                  <c:pt idx="2">
                    <c:v>Психологическая помощь: −5 баллов PHQ-8 при PHQ ≥ 10</c:v>
                  </c:pt>
                  <c:pt idx="3">
                    <c:v>Встречи с руководителем ≥2 раз в месяц</c:v>
                  </c:pt>
                  <c:pt idx="4">
                    <c:v>Неудовлетворённые руководителем → «скорее удовлетворены»</c:v>
                  </c:pt>
                  <c:pt idx="5">
                    <c:v>Все работающие полный день уходят с работы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7.2</c:v>
                </c:pt>
                <c:pt idx="1">
                  <c:v>4.2</c:v>
                </c:pt>
                <c:pt idx="2">
                  <c:v>2</c:v>
                </c:pt>
                <c:pt idx="3">
                  <c:v>1.2</c:v>
                </c:pt>
                <c:pt idx="4">
                  <c:v>0.7</c:v>
                </c:pt>
                <c:pt idx="5">
                  <c:v>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52627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вечер. Я Егор, участвую один. Мой вопрос: почему аспиранты хотят бросить аспирантуру. Короткий ответ на 10 секунд: не из-за работы. Решают научный руководитель, чувство своей кафедры и ментальное здоровье. А ещё сам вуз: в «конвейерах защит» риск выше. Я связал все три массива хакатона.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Меньше пятой части аспирантов защищается в срок. Намерение уйти появляется раньше отчисления, значит, его можно поймать. Самое частое объяснение отсева: «они работают». Я проверил пять гипотез: от работы до эффекта самого вуза.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Основа: опрос 5 007 аспирантов из 249 вузов, 2021 год. Я сопоставил названия вузов с Мониторингом эффективности за тот же год и получил связанный массив: 85 вузов и 3 570 человек. Лонгитюд студентов использую для репликации. Каждый пятый аспирант часто хочет уйти, у каждого четвёртого умеренные и выше депрессивные симптомы.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Методов семь, и у каждого свой вопрос. Логит отвечает, что связано. Шепли показывает, что важнее. Бустинг проверяет предсказуемость и нелинейности. Кластеры показывают, кто в группе риска. Медиация объясняет, как это работает. Многоуровневая модель проверяет роль вуза. G-computation считает, что дадут меры.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слайд. Слева тип занятости: от 20 до 24 процентов, разницы почти нет. Справа руководитель, кафедра и симптомы: разброс в четыре–шесть раз. Сопоставление похожих аспирантов даёт эффект работы около нуля. На студентах начало работы тоже не повышает мысли об уходе. Важна не работа, а переживание конфликта.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Разложение Шепли: здоровье, среда и руководитель дают две трети объяснённого, занятость меньше двух процентов. Модель хорошо различает группы: AUC 0.83, а только на внешних факторах 0.61. Пятая часть аспирантов с самым высоким прогнозом риска покрывает больше половины желающих уйти. E-value около двух: связь не объяснить слабым скрытым фактором.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типа аспирантов. Почти половина вовлечены, и уйти хотят всего 5%. Отстранённые: с руководителем всё нормально, но нет своей кафедры. Выгорающие: среда хорошая, но выраженные симптомы. И 10% без опоры на руководителя: там уйти хотят 59%. Доля работающих во всех четырёх группах около 45%.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Механизм. Около 15% эффекта руководителя и среды идёт через депрессивные симптомы. И модерация: работа опасна только без академической опоры. При сильной принадлежности к кафедре работающие по модели рискуют даже меньше.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Вуз тоже важен, хотя на уровне вузов лежит лишь около 4% различий. Самая сильная связь с Мониторингом: где за год защищается больше сотрудников, аспиранты на 30% чаще хотят уйти. Это устойчиво без двух крупнейших вузов. И именно там руководитель важнее всего. Моя интерпретация: давление «защищайся быстрее» без ресурсов.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делать. Я посчитал меры на модели. Комплекс из встреч с руководителем, сообщества кафедры и психологической помощи снижает долю желающих уйти с 20 до 13 процентов. Уход с работы не даёт ничего. Для защиты я сделал интерактивный калькулятор риска: могу показать его вживую.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>
                    <a:alpha val="70000"/>
                  </a:schemeClr>
                </a:solidFill>
              </a:rPr>
              <a:t>Данные: опрос аспирантов 2021 (HSE-BR-2025-009); Мониторинг эффективности вузов 2022; лонгитюд студентов 2024–2026 (HSE-BR-2025-009)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Не работа, а среда: кто и почему хочет бросить аспирантуру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Все три массива хакатона: опрос 5 007 аспирантов × Мониторинг вузов + репликация на лонгитюде студентов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Егор Чуланов · Хакатон исследователей высшего образования, Конференция ИВО 2026 · номинация «Анализ данных»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Вопрос: что на самом деле толкает аспирантов к мысли об уходе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507492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Почему это важно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45720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Меньше 1 из 5 выпускников аспирантуры защищается в срок (ИСИЭЗ НИУ ВШЭ, Росстат)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Намерение уйти опережает отчисление: это сигнал, который вуз может поймать заранее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Расхожее объяснение: «уходят, потому что работают». Политика часто строится на нём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Если оно неверно, вузы тратят ресурс не туда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Исследовательский вопрос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989320" y="17830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Что сильнее связано с желанием бросить аспирантуру: внешняя нагрузка или академическая среда, научное руководство и ментальное здоровье, и есть ли эффект самого вуза?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89320" y="3108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1089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Полная занятость вне вуза повышает риск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89320" y="371246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89320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712464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Руководитель и среда весят больше, чем работа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89320" y="43159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3159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Часть эффекта среды идёт через ментальное здоровье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89320" y="49194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8932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491947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Принадлежность к кафедре защищает работающих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89320" y="552297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89320" y="5522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522976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Характеристики вуза (МЭВ) меняют риск сверх индивидуальных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Данные: все три массива хакатона, связанные на уровне вуза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35204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Опрос аспирантов, 2021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5 007 респондентов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249 вузов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намерение уйти, руководитель, среда, PHQ-8, работа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069080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+</a:t>
            </a:r>
            <a:endParaRPr lang="en-US" sz="2600" dirty="0"/>
          </a:p>
        </p:txBody>
      </p:sp>
      <p:sp>
        <p:nvSpPr>
          <p:cNvPr id="9" name="card"/>
          <p:cNvSpPr/>
          <p:nvPr/>
        </p:nvSpPr>
        <p:spPr>
          <a:xfrm>
            <a:off x="4343400" y="1371600"/>
            <a:ext cx="35204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5544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1554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Мониторинг эффективности вузов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1488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МЭВ-2022 (данные за 2021 год)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698 головных вузов, 400+ показателей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защиты НПР, аспиранты на 100 студентов, НИОКР, ЕГЭ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=</a:t>
            </a:r>
            <a:endParaRPr lang="en-US" sz="2600" dirty="0"/>
          </a:p>
        </p:txBody>
      </p:sp>
      <p:sp>
        <p:nvSpPr>
          <p:cNvPr id="15" name="card"/>
          <p:cNvSpPr/>
          <p:nvPr/>
        </p:nvSpPr>
        <p:spPr>
          <a:xfrm>
            <a:off x="8138160" y="1371600"/>
            <a:ext cx="35204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1554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667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1554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Связанный массив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21488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3 570 аспирантов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85 вузов с показателями МЭВ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нечёткое сопоставление названий + ручная проверка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22%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0292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согласны: «Я часто хочу бросить аспирантуру»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33756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26%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3337560" y="50292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 умеренными и выше депрессивными симптомами (PHQ-8 ≥ 10)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α = 0.87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50292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надёжность индекса академической принадлежности (6 пунктов)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91540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 из 3</a:t>
            </a:r>
            <a:endParaRPr lang="en-US" sz="4400" dirty="0"/>
          </a:p>
        </p:txBody>
      </p:sp>
      <p:sp>
        <p:nvSpPr>
          <p:cNvPr id="27" name="Text 25"/>
          <p:cNvSpPr txBox="1"/>
          <p:nvPr/>
        </p:nvSpPr>
        <p:spPr>
          <a:xfrm>
            <a:off x="8915400" y="50292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массивов хакатона: опрос, МЭВ и лонгитюд студентов (для репликации)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Методы: семь инструментов, каждый отвечает на свой вопрос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5440680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Логит-регрессия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кластерные ошибки по вузу; порядковый логит для проверки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14447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Что связано?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172200" y="1325880"/>
            <a:ext cx="5440680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4447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Декомпозиция Шепли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8288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вклад 7 блоков в псевдо-R² (128 моделей)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784080" y="14447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Что важнее?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548640" y="2532888"/>
            <a:ext cx="5440680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651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Градиентный бустинг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03580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5-fold CV AUC, перестановочная важность, нелинейности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6517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Предсказуемо ли?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6172200" y="2532888"/>
            <a:ext cx="5440680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2651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Кластеризация k-means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303580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типы аспирантов по руководителю, среде, PHQ-8, интересу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6517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Кто в группе риска?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548640" y="3739896"/>
            <a:ext cx="5440680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858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Медиация и модерация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242816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бутстрэп косвенного эффекта; принадлежность × работа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160520" y="3858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Как действует?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6172200" y="3739896"/>
            <a:ext cx="5440680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3858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Многоуровневая модель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4242816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вузы как уровень 2 + показатели МЭВ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3858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Важен ли вуз?</a:t>
            </a:r>
            <a:endParaRPr lang="en-US" sz="1300" dirty="0"/>
          </a:p>
        </p:txBody>
      </p:sp>
      <p:sp>
        <p:nvSpPr>
          <p:cNvPr id="27" name="card"/>
          <p:cNvSpPr/>
          <p:nvPr/>
        </p:nvSpPr>
        <p:spPr>
          <a:xfrm>
            <a:off x="548640" y="4946904"/>
            <a:ext cx="11094415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0657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G-computation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449824"/>
            <a:ext cx="8991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контрфактические сценарии мер с бутстрэп-ДИ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814255" y="5065776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Что даст политика?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Работа почти не меняет риск, а руководитель, среда и здоровье меняют его в 4–6 раз</a:t>
            </a:r>
            <a:endParaRPr lang="en-US" sz="26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280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Доля согласных с «Я часто хочу бросить аспирантуру» (в среднем 22%). ПД = полный день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269748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3337560" y="1737360"/>
          <a:ext cx="269748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6126480" y="1737360"/>
          <a:ext cx="269748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8915400" y="1737360"/>
          <a:ext cx="269748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card"/>
          <p:cNvSpPr/>
          <p:nvPr/>
        </p:nvSpPr>
        <p:spPr>
          <a:xfrm>
            <a:off x="548640" y="5166360"/>
            <a:ext cx="5410048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31520" y="5257800"/>
            <a:ext cx="5044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Парадокс.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45% называют работу серьёзной трудностью, но сам факт работы риск не меняет. PSM (1 971 пар): +0.6 п.п. [-1.7; 3.0]. H1 отвергнута.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6233008" y="5166360"/>
            <a:ext cx="5410048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15888" y="5257800"/>
            <a:ext cx="5044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Репликация на студентах (лонгитюд, 3-й массив).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Начало работы между волнами не повышает мысли об уходе (ОШ 0.87, p = 0.65, n = 564). Решает переживание конфликта: 58% против 36%.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Три фактора среды дают две трети объяснённого, занятость менее 2%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7607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6583680" y="1325880"/>
            <a:ext cx="2377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63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×1.82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21488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шансы на +1 SD депрессивных симптомов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9144000" y="1325880"/>
            <a:ext cx="2377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326880" y="1463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×0.60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9326880" y="21488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на +1 SD принадлежности к кафедре</a:t>
            </a:r>
            <a:endParaRPr lang="en-US" sz="1200" dirty="0"/>
          </a:p>
        </p:txBody>
      </p:sp>
      <p:sp>
        <p:nvSpPr>
          <p:cNvPr id="10" name="card"/>
          <p:cNvSpPr/>
          <p:nvPr/>
        </p:nvSpPr>
        <p:spPr>
          <a:xfrm>
            <a:off x="6583680" y="3154680"/>
            <a:ext cx="2377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3291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×0.75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3977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на +1 SD удовлетворённости руководителем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9144000" y="3154680"/>
            <a:ext cx="2377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326880" y="3291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×0.96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0" y="3977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полный день вне вуза, p = 0.79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3492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Предсказательная сила: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логит AUC 0.83, бустинг 0.82 (5-fold CV) против 0.61 только на внешних факторах. </a:t>
            </a:r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Скрининг: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20% аспирантов с наибольшим риском покрывают 55% всех, кто хочет уйти. </a:t>
            </a:r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Устойчивость: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E-value для PHQ-8 2.0, для принадлежности 1.9: скрытый конфаундер должен быть сильным, чтобы обнулить связь.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Четыре типа аспирантов: риск различается в 11 раз, а доля работающих почти одинакова</a:t>
            </a:r>
            <a:endParaRPr lang="en-US" sz="2600" dirty="0"/>
          </a:p>
        </p:txBody>
      </p:sp>
      <p:pic>
        <p:nvPicPr>
          <p:cNvPr id="3" name="Image 0" descr="/home/user/khakatonIVO/output/figures/08_profi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583680" cy="3950208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7406640" y="1325880"/>
            <a:ext cx="4251960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89520" y="1600200"/>
            <a:ext cx="502920" cy="50292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7532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Вовлечённые · 47%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1737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довольны руководителем, свои на кафедре, симптомов почти нет. Хотят уйти 5%, работают ПД вне вуза 45%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7406640" y="2532888"/>
            <a:ext cx="4251960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589520" y="2807208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2624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Отстранённые · 27%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29443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руководитель в порядке, но нет чувства принадлежности. Хотят уйти 23%, работают ПД вне вуза 50%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7406640" y="3739896"/>
            <a:ext cx="4251960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89520" y="4014216"/>
            <a:ext cx="502920" cy="502920"/>
          </a:xfrm>
          <a:prstGeom prst="ellipse">
            <a:avLst/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75320" y="38313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Выгорающие · 16%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41513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хорошая среда, но выраженные депрессивные симптомы. Хотят уйти 33%, работают ПД вне вуза 42%</a:t>
            </a:r>
            <a:endParaRPr lang="en-US" sz="1100" dirty="0"/>
          </a:p>
        </p:txBody>
      </p:sp>
      <p:sp>
        <p:nvSpPr>
          <p:cNvPr id="16" name="card"/>
          <p:cNvSpPr/>
          <p:nvPr/>
        </p:nvSpPr>
        <p:spPr>
          <a:xfrm>
            <a:off x="7406640" y="4946904"/>
            <a:ext cx="4251960" cy="1069848"/>
          </a:xfrm>
          <a:prstGeom prst="roundRect">
            <a:avLst>
              <a:gd name="adj" fmla="val 68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589520" y="5221224"/>
            <a:ext cx="502920" cy="50292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50383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Без опоры на руководителя · 10%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53583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конфликт или отсутствие поддержки руководителя, слабая среда. Хотят уйти 59%, работают ПД вне вуза 48%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440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Кластеризация k-means по 4 стандартизованным признакам. Размер пузыря = доля аспирантов, число внутри = доля желающих уйти.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Механизмы: часть эффекта идёт через здоровье, а принадлежность защищает работающих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Медиация через PHQ-8 (бутстрэп)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306324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06324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Руководитель / принадлежность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423160" y="1828800"/>
            <a:ext cx="17373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23160" y="182880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Депрессивные симптомы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3063240"/>
            <a:ext cx="17830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3063240"/>
            <a:ext cx="17830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Хочу бросить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V="1">
            <a:off x="1463040" y="2194560"/>
            <a:ext cx="960120" cy="8686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60520" y="2194560"/>
            <a:ext cx="1051560" cy="8686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1965960" cy="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514600" y="3474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прямой эффект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55778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</a:rPr>
                        <a:t>Руководитель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</a:rPr>
                        <a:t>Принадлежность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Общий эффект, п.п. на 1 SD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-8.9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-10.6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Косвенный через PHQ-8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-1.2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-1.8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95% ДИ косвенного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-1.6…-0.9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-2.1…-1.3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Доля медиации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14%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17%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640080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Модерация: принадлежность × работа</a:t>
            </a:r>
            <a:endParaRPr lang="en-US" sz="1700" dirty="0"/>
          </a:p>
        </p:txBody>
      </p:sp>
      <p:pic>
        <p:nvPicPr>
          <p:cNvPr id="16" name="Image 0" descr="/home/user/khakatonIVO/output/figures/05_inter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737360"/>
            <a:ext cx="5257800" cy="327820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400800" y="512064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β = -0.27, p = 0.001: работа опасна только без академической опоры. При высокой принадлежности работающие по модели рискуют даже меньше.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Вуз тоже важен: в «конвейерах защит» аспиранты чаще хотят уйти</a:t>
            </a:r>
            <a:endParaRPr lang="en-US" sz="2600" dirty="0"/>
          </a:p>
        </p:txBody>
      </p:sp>
      <p:pic>
        <p:nvPicPr>
          <p:cNvPr id="3" name="Image 0" descr="/home/user/khakatonIVO/output/figures/06_univers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035040" cy="29269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297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Оценки многоуровневой модели для 37 вузов с 30+ ответами, обезличено.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09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12%–31%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035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разброс доли «хочу бросить» между вузами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606040" y="4709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3.6%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2606040" y="53035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дисперсии на уровне вуза (ICC): главное внутри вуза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4709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1.40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53035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медианное отношение шансов между вузами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325880"/>
          <a:ext cx="47548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</a:rPr>
                        <a:t>Показатель МЭВ (+1 SD)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</a:rPr>
                        <a:t>ОШ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</a:rPr>
                        <a:t>p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Доля НПР, защитивших диссертации за год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</a:rPr>
                        <a:t>1.30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&lt;0.001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Аспиранты на 100 студентов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</a:rPr>
                        <a:t>1.17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0.049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Средний балл ЕГЭ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0.85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0.108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Доходы на 1 студента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1.19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0.086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Гранты на 100 НПР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0.98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0.710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Доля доходов от НИОКР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1.00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0.956</a:t>
                      </a:r>
                      <a:endParaRPr lang="en-US" sz="12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card"/>
          <p:cNvSpPr/>
          <p:nvPr/>
        </p:nvSpPr>
        <p:spPr>
          <a:xfrm>
            <a:off x="6903720" y="3840480"/>
            <a:ext cx="475488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086600" y="3977640"/>
            <a:ext cx="4434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H5 подтверждена частично.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Там, где за год защищается больше сотрудников, шансы хотеть уйти выше на 30% при равных индивидуальных факторах (устойчиво без двух крупнейших вузов). Поддержка руководителя там важнее: взаимодействие β = -0.11, p = 0.02.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Вероятная причина: давление «защищайся быстрее» без ресурсов.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Что даст вузу каждая мера: симуляция на модели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43800" y="1234440"/>
            <a:ext cx="4114800" cy="3931920"/>
          </a:xfrm>
          <a:prstGeom prst="roundRect">
            <a:avLst>
              <a:gd name="adj" fmla="val 1860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Рекомендации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874520"/>
            <a:ext cx="3703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Ежегодный скрининг PHQ-8 и путь к психологу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Стандарт: встреча с руководителем ≥ 2 раз в месяц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Аспирантские семинары и сообщество кафедры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Короткий скрининг (8 показателей, AUC 0.83) находит группу риска заранее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Не запрещать работу: это не помогает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Ограничения: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кросс-секционные данные (связи, не причинность), намерение вместо факта отчисления, онлайн-опрос весны 2021 года. Далее: лонгитюд и данные о фактических отчислениях.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8932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Исследование осуществлено в рамках Программы фундаментальных исследований НИУ ВШЭ (HSE-BR-2025-009). Авторы благодарят лабораторию «Развитие университетов» ИО НИУ ВШЭ за сводную базу МЭВ.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VO Hackathon">
  <a:themeElements>
    <a:clrScheme name="IVO Hackathon">
      <a:dk1>
        <a:srgbClr val="0B0B0B"/>
      </a:dk1>
      <a:lt1>
        <a:srgbClr val="FFFFFF"/>
      </a:lt1>
      <a:dk2>
        <a:srgbClr val="14213D"/>
      </a:dk2>
      <a:lt2>
        <a:srgbClr val="F1F4F9"/>
      </a:lt2>
      <a:accent1>
        <a:srgbClr val="2A78D6"/>
      </a:accent1>
      <a:accent2>
        <a:srgbClr val="EB6834"/>
      </a:accent2>
      <a:accent3>
        <a:srgbClr val="B9B8B2"/>
      </a:accent3>
      <a:accent4>
        <a:srgbClr val="1BAF7A"/>
      </a:accent4>
      <a:accent5>
        <a:srgbClr val="4A3AA7"/>
      </a:accent5>
      <a:accent6>
        <a:srgbClr val="E34948"/>
      </a:accent6>
      <a:hlink>
        <a:srgbClr val="2A78D6"/>
      </a:hlink>
      <a:folHlink>
        <a:srgbClr val="4A3AA7"/>
      </a:folHlink>
    </a:clrScheme>
    <a:fontScheme name="IVO Hackath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Что толкает аспирантов к мысли об отчислении</dc:title>
  <dc:subject>PptxGenJS Presentation</dc:subject>
  <dc:creator>PptxGenJS</dc:creator>
  <cp:lastModifiedBy>PptxGenJS</cp:lastModifiedBy>
  <cp:revision>1</cp:revision>
  <dcterms:created xsi:type="dcterms:W3CDTF">2026-10-09T16:01:19Z</dcterms:created>
  <dcterms:modified xsi:type="dcterms:W3CDTF">2026-10-09T16:01:19Z</dcterms:modified>
</cp:coreProperties>
</file>