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57b90b48-263a-4dd8-ee3a-23fd5f4ef39e}">
          <p14:sldIdLst>
            <p14:sldId id="256"/>
          </p14:sldIdLst>
        </p14:section>
        <p14:section name="Вопрос и данные" id="{20ac2bcd-47c0-b281-dd35-9d8ae5be4f4e}">
          <p14:sldIdLst>
            <p14:sldId id="257"/>
            <p14:sldId id="258"/>
          </p14:sldIdLst>
        </p14:section>
        <p14:section name="Методы" id="{4d0ce4cc-efeb-2739-b3ca-9c1ace1dbebe}">
          <p14:sldIdLst>
            <p14:sldId id="259"/>
          </p14:sldIdLst>
        </p14:section>
        <p14:section name="Результаты" id="{e3893ffd-4f20-49cb-bda4-e84339b050af}">
          <p14:sldIdLst>
            <p14:sldId id="260"/>
            <p14:sldId id="261"/>
            <p14:sldId id="262"/>
            <p14:sldId id="263"/>
            <p14:sldId id="264"/>
          </p14:sldIdLst>
        </p14:section>
        <p14:section name="Выводы" id="{37c0ccdf-ac93-7d34-44ac-604414c83d7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Тип занятости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Тип занятости</c:v>
                </c:pt>
              </c:strCache>
            </c:strRef>
          </c:tx>
          <c:spPr>
            <a:solidFill>
              <a:srgbClr val="B9B8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Нет</c:v>
                  </c:pt>
                  <c:pt idx="1">
                    <c:v>Подраб.</c:v>
                  </c:pt>
                  <c:pt idx="2">
                    <c:v>Неполн.</c:v>
                  </c:pt>
                  <c:pt idx="3">
                    <c:v>ПД вуз</c:v>
                  </c:pt>
                  <c:pt idx="4">
                    <c:v>ПД вне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0.2446</c:v>
                </c:pt>
                <c:pt idx="1">
                  <c:v>0.2146</c:v>
                </c:pt>
                <c:pt idx="2">
                  <c:v>0.1975</c:v>
                </c:pt>
                <c:pt idx="3">
                  <c:v>0.2088</c:v>
                </c:pt>
                <c:pt idx="4">
                  <c:v>0.2235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Удовл. руководителем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Удовл. руководителем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Совсем нет</c:v>
                  </c:pt>
                  <c:pt idx="1">
                    <c:v>Скорее нет</c:v>
                  </c:pt>
                  <c:pt idx="2">
                    <c:v>Скорее да</c:v>
                  </c:pt>
                  <c:pt idx="3">
                    <c:v>Полн.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0.5497</c:v>
                </c:pt>
                <c:pt idx="1">
                  <c:v>0.6116</c:v>
                </c:pt>
                <c:pt idx="2">
                  <c:v>0.3203</c:v>
                </c:pt>
                <c:pt idx="3">
                  <c:v>0.1269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Принадлежность (1–4)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Принадлежность (1–4)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≤2.5</c:v>
                  </c:pt>
                  <c:pt idx="1">
                    <c:v>2.5–3</c:v>
                  </c:pt>
                  <c:pt idx="2">
                    <c:v>3–3.5</c:v>
                  </c:pt>
                  <c:pt idx="3">
                    <c:v>3.5–4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0.5488</c:v>
                </c:pt>
                <c:pt idx="1">
                  <c:v>0.296</c:v>
                </c:pt>
                <c:pt idx="2">
                  <c:v>0.1883</c:v>
                </c:pt>
                <c:pt idx="3">
                  <c:v>0.0956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Депр. симптомы PHQ-8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Депр. симптомы PHQ-8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0–4</c:v>
                  </c:pt>
                  <c:pt idx="1">
                    <c:v>5–9</c:v>
                  </c:pt>
                  <c:pt idx="2">
                    <c:v>10–14</c:v>
                  </c:pt>
                  <c:pt idx="3">
                    <c:v>15+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0.0929</c:v>
                </c:pt>
                <c:pt idx="1">
                  <c:v>0.22</c:v>
                </c:pt>
                <c:pt idx="2">
                  <c:v>0.3491</c:v>
                </c:pt>
                <c:pt idx="3">
                  <c:v>0.5221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Называют серьёзной трудностью, % аспирантов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Серьёзная трудность</c:v>
                </c:pt>
              </c:strCache>
            </c:strRef>
          </c:tx>
          <c:spPr>
            <a:solidFill>
              <a:srgbClr val="B9B8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Потеря интереса к теме</c:v>
                  </c:pt>
                  <c:pt idx="1">
                    <c:v>Отношения с руководителем</c:v>
                  </c:pt>
                  <c:pt idx="2">
                    <c:v>Публикации</c:v>
                  </c:pt>
                  <c:pt idx="3">
                    <c:v>Совмещение с работой</c:v>
                  </c:pt>
                  <c:pt idx="4">
                    <c:v>Нехватка навыков</c:v>
                  </c:pt>
                  <c:pt idx="5">
                    <c:v>Тайм-менеджмент</c:v>
                  </c:pt>
                  <c:pt idx="6">
                    <c:v>Нехватка финансирования</c:v>
                  </c:pt>
                  <c:pt idx="7">
                    <c:v>Здоровье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0.12371854613233924</c:v>
                </c:pt>
                <c:pt idx="1">
                  <c:v>0.06047851129818343</c:v>
                </c:pt>
                <c:pt idx="2">
                  <c:v>0.2280225988700565</c:v>
                </c:pt>
                <c:pt idx="3">
                  <c:v>0.44735663082437277</c:v>
                </c:pt>
                <c:pt idx="4">
                  <c:v>0.15563587079286198</c:v>
                </c:pt>
                <c:pt idx="5">
                  <c:v>0.16808988764044944</c:v>
                </c:pt>
                <c:pt idx="6">
                  <c:v>0.2825875486381323</c:v>
                </c:pt>
                <c:pt idx="7">
                  <c:v>0.09847276042853886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Во сколько раз чаще хотят бросить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Отн. риск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&quot;×&quot;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Потеря интереса к теме</c:v>
                  </c:pt>
                  <c:pt idx="1">
                    <c:v>Отношения с руководителем</c:v>
                  </c:pt>
                  <c:pt idx="2">
                    <c:v>Публикации</c:v>
                  </c:pt>
                  <c:pt idx="3">
                    <c:v>Совмещение с работой</c:v>
                  </c:pt>
                  <c:pt idx="4">
                    <c:v>Нехватка навыков</c:v>
                  </c:pt>
                  <c:pt idx="5">
                    <c:v>Тайм-менеджмент</c:v>
                  </c:pt>
                  <c:pt idx="6">
                    <c:v>Нехватка финансирования</c:v>
                  </c:pt>
                  <c:pt idx="7">
                    <c:v>Здоровье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4.8</c:v>
                </c:pt>
                <c:pt idx="1">
                  <c:v>3.2</c:v>
                </c:pt>
                <c:pt idx="2">
                  <c:v>2.6</c:v>
                </c:pt>
                <c:pt idx="3">
                  <c:v>2.5</c:v>
                </c:pt>
                <c:pt idx="4">
                  <c:v>2.4</c:v>
                </c:pt>
                <c:pt idx="5">
                  <c:v>2</c:v>
                </c:pt>
                <c:pt idx="6">
                  <c:v>2</c:v>
                </c:pt>
                <c:pt idx="7">
                  <c:v>1.9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14213D"/>
                </a:solidFill>
                <a:latin typeface="+mn-lt"/>
              </a:rPr>
              <a:t>Вклад блока в псевдо-R² (декомпозиция Шепли)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Ментальное здоровье</c:v>
                  </c:pt>
                  <c:pt idx="1">
                    <c:v>Академическая среда</c:v>
                  </c:pt>
                  <c:pt idx="2">
                    <c:v>Мотивация</c:v>
                  </c:pt>
                  <c:pt idx="3">
                    <c:v>Научный руководитель</c:v>
                  </c:pt>
                  <c:pt idx="4">
                    <c:v>Соцдем и программа</c:v>
                  </c:pt>
                  <c:pt idx="5">
                    <c:v>Публикации</c:v>
                  </c:pt>
                  <c:pt idx="6">
                    <c:v>Занятость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0.25602044690783937</c:v>
                </c:pt>
                <c:pt idx="1">
                  <c:v>0.23339779000021796</c:v>
                </c:pt>
                <c:pt idx="2">
                  <c:v>0.21914941876452498</c:v>
                </c:pt>
                <c:pt idx="3">
                  <c:v>0.17712869965079045</c:v>
                </c:pt>
                <c:pt idx="4">
                  <c:v>0.07510857929843126</c:v>
                </c:pt>
                <c:pt idx="5">
                  <c:v>0.02273840728953265</c:v>
                </c:pt>
                <c:pt idx="6">
                  <c:v>0.016456658088663454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0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Название команды и участников добавить перед отправкой.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Зависимая переменная предложена организаторами: Q13_r3 «Я часто хочу бросить обучение в аспирантуре».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Здоровье, среда и руководитель вместе дают около 67% объяснённой вариации; мотивация (интерес к теме, цель получить степень) около 22%.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>
                    <a:alpha val="70000"/>
                  </a:schemeClr>
                </a:solidFill>
              </a:rPr>
              <a:t>Данные: Всероссийский опрос аспирантов, 2021 (НИУ ВШЭ, HSE-BR-2025-009)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Не работа, а среда: что толкает аспирантов к мысли об отчислении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Научный руководитель, академическая принадлежность и ментальное здоровье против внешней занятости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Хакатон исследователей высшего образования · Конференция ИВО 2026 · номинация «Анализ данных»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Почему важно понять, кто хочет уйти из аспирантуры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51206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Контекст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9659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Меньше 1 из 5 выпускников аспирантуры защищается в срок (ИСИЭЗ НИУ ВШЭ, Росстат)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Намерение уйти предшествует отчислению: это ранний сигнал, который вуз может заметить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Частое объяснение «аспиранты уходят, потому что работают». Мы проверяем, так ли это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Исследовательский вопрос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172200" y="17830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Что сильнее связано с желанием бросить аспирантуру: внешняя нагрузка (работа, семья, финансы) или качество академической среды и научного руководства? И через что действует эта связь?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72200" y="3291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7220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32918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Полная занятость вне вуза повышает риск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3977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3977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Руководитель и среда снижают риск сильнее, чем работа повышает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4663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46634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Связь среды с намерением частично идёт через ментальное здоровье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200" y="5349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5349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Принадлежность к кафедре особенно защищает работающих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Данные: 5 007 аспирантов из 249 вузов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25603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5 007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респондентов, онлайн-опрос, май–июль 2021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337560" y="1371600"/>
            <a:ext cx="25603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249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вузов (используем для кластерных ошибок)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371600"/>
            <a:ext cx="25603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22%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согласны: «Я часто хочу бросить аспирантуру»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915400" y="1371600"/>
            <a:ext cx="25603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26%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умеренными и выше депрессивными симптомами (PHQ-8 ≥ 10)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Ключевые переменные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Зависимая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Q13_r3, шкала 1–4; бинарно «скорее/полностью согласен» (основная), порядковая (проверка)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Руководитель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удовлетворённость взаимодействием (Q11), частота общения (Q50)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Академическая среда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индекс принадлежности из 6 пунктов Qatm, α = 0.87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Ментальное здоровье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PHQ-8, 0–24 балла, α = 0.90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Занятость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 типов (Q20) + связь работы с диссертацией (Q23)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Контроли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пол, год и форма обучения, платное место, дети, брак, направление, регион, цели, публикации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Методы: от описательных срезов к механизмам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Логит-регрессия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вложенные модели, блоки предикторов, ошибки кластеризованы по вузу. Проверка: порядковый логит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3756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Важность блоков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Декомпозиция Шепли псевдо-R² Макфаддена по 7 блокам (128 моделей)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Медиация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Руководитель / среда → PHQ-8 → намерение уйти. Бутстрэп 500 повторов, 95% ДИ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1540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Модерация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9260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Принадлежность × полная занятость вне вуза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484632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Выборка для моделей: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4 344 аспирантов с полными ответами (87% от массива).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Предсказательная проверка: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5-кратная кросс-валидация, ROC AUC. Непрерывные предикторы стандартизованы (эффект на 1 SD). Python: statsmodels, scikit-learn; код воспроизводим.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Работа почти не меняет риск, а руководитель, среда и здоровье меняют его в 4–6 раз</a:t>
            </a:r>
            <a:endParaRPr lang="en-US" sz="26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280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Доля согласных с «Я часто хочу бросить аспирантуру», среднее по выборке 22%. ПД = полный день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2697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3337560" y="1783080"/>
          <a:ext cx="2697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6126480" y="1783080"/>
          <a:ext cx="2697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8915400" y="1783080"/>
          <a:ext cx="2697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 2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Разброс по типу занятости: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20–24%. По руководителю: 13–61%, по принадлежности: 10–55%, по PHQ-8: 9–52%.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Работу чаще всего называют трудностью, но сильнее «сигналят» тема и руководитель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55080" y="132588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23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Вывод: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совмещение с работой отмечают 45%, но сам факт работы риск не повышает (слайд 5). Опасна не работа, а её восприятие как конфликта. Потеря интереса к теме встречается у 12%, но среди них хотят уйти 71%.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 прочих равных: руководитель, среда и здоровье значимы, тип работы нет</a:t>
            </a:r>
            <a:endParaRPr lang="en-US" sz="2600" dirty="0"/>
          </a:p>
        </p:txBody>
      </p:sp>
      <p:pic>
        <p:nvPicPr>
          <p:cNvPr id="3" name="Image 0" descr="/home/user/khakatonIVO/output/figures/03_fo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949440" cy="3359903"/>
          </a:xfrm>
          <a:prstGeom prst="rect">
            <a:avLst/>
          </a:prstGeom>
        </p:spPr>
      </p:pic>
      <p:sp>
        <p:nvSpPr>
          <p:cNvPr id="4" name="card"/>
          <p:cNvSpPr/>
          <p:nvPr/>
        </p:nvSpPr>
        <p:spPr>
          <a:xfrm>
            <a:off x="7818120" y="1325880"/>
            <a:ext cx="3840480" cy="480060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4672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×1.82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14630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шансы на +1 SD депрессивных симптомов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606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×0.60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6060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шансы на +1 SD принадлежности к кафедре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3749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×0.75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37490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шансы на +1 SD удовлетворённости руководителем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4892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×0.96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48920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полный день вне вуза, p = 0.79 (H1 не подтверждена)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06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Логит, N = 4344, псевдо-R² = 0.26. Порядковый логит даёт те же знаки и значимость.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фактора среды объясняют две трети объяснённого, занятость менее 2%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7680960" y="1325880"/>
            <a:ext cx="39776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0.83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ROC AUC полной модели (5-fold CV)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680960" y="3840480"/>
            <a:ext cx="39776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09560" y="39319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0.61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AUC только по внешним факторам: соцдем, программа, занятость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Механизмы: часть эффекта идёт через здоровье, а принадлежность защищает работающих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Медиация через PHQ-8 (LPM, бутстрэп)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Руководитель / принадлежность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23160" y="1828800"/>
            <a:ext cx="1737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Депрессивные симптомы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3063240"/>
            <a:ext cx="17830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3063240"/>
            <a:ext cx="17830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Хочу бросить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1463040" y="2194560"/>
            <a:ext cx="960120" cy="8686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60520" y="2194560"/>
            <a:ext cx="1051560" cy="8686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1965960" cy="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514600" y="3474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прямой эффект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55778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</a:rPr>
                        <a:t>Руководитель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</a:rPr>
                        <a:t>Принадлежность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Общий эффект, п.п. на 1 SD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-8.9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-10.6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Косвенный через PHQ-8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-1.2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-1.8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95% ДИ косвенного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-1.6…-0.9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-2.1…-1.3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Доля медиации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14%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17%</a:t>
                      </a:r>
                      <a:endParaRPr lang="en-US" sz="1300" dirty="0"/>
                    </a:p>
                  </a:txBody>
                  <a:tcPr marL="76200" marR="76200" marT="25400" marB="25400">
                    <a:lnL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Модерация: принадлежность × полный день вне вуза</a:t>
            </a:r>
            <a:endParaRPr lang="en-US" sz="1500" dirty="0"/>
          </a:p>
        </p:txBody>
      </p:sp>
      <p:pic>
        <p:nvPicPr>
          <p:cNvPr id="16" name="Image 0" descr="/home/user/khakatonIVO/output/figures/05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37360"/>
            <a:ext cx="5257800" cy="327820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00800" y="512064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Взаимодействие β = -0.27, p = 0.001: при слабой принадлежности работающие полный день вне вуза в зоне наибольшего риска (H4).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Выводы и что может сделать вуз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Что нашли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H1 нет: тип занятости не связан с намерением уйти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H2 да: руководитель, среда и здоровье дают ~2/3 объяснённого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H3 частично: 17% эффекта среды идёт через здоровье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H4 да: принадлежность сильнее защищает работающих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54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Что делать вузу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0312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Скрининг благополучия (PHQ-8) на ежегодной аттестации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Стандарт: встреча с руководителем не реже 2 раз в месяц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Аспирантские семинары и сообщество, особенно для работающих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Не ограничивать работу, а связывать её с темой диссертации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37160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54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Ограничения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0312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Кросс-секционные данные: связи, не причинность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Намерение, а не факт отчисления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Самоотбор в онлайн-опросе, весна 2021 (пандемия)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Дальше: связать с данными МЭВ по выпуску аспирантов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Исследование осуществлено с использованием данных Программы фундаментальных исследований НИУ ВШЭ (HSE-BR-2025-009). Контекст о защитах: ИСИЭЗ НИУ ВШЭ.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VO Hackathon">
  <a:themeElements>
    <a:clrScheme name="IVO Hackathon">
      <a:dk1>
        <a:srgbClr val="0B0B0B"/>
      </a:dk1>
      <a:lt1>
        <a:srgbClr val="FFFFFF"/>
      </a:lt1>
      <a:dk2>
        <a:srgbClr val="14213D"/>
      </a:dk2>
      <a:lt2>
        <a:srgbClr val="F1F4F9"/>
      </a:lt2>
      <a:accent1>
        <a:srgbClr val="2A78D6"/>
      </a:accent1>
      <a:accent2>
        <a:srgbClr val="EB6834"/>
      </a:accent2>
      <a:accent3>
        <a:srgbClr val="B9B8B2"/>
      </a:accent3>
      <a:accent4>
        <a:srgbClr val="1BAF7A"/>
      </a:accent4>
      <a:accent5>
        <a:srgbClr val="4A3AA7"/>
      </a:accent5>
      <a:accent6>
        <a:srgbClr val="E34948"/>
      </a:accent6>
      <a:hlink>
        <a:srgbClr val="2A78D6"/>
      </a:hlink>
      <a:folHlink>
        <a:srgbClr val="4A3AA7"/>
      </a:folHlink>
    </a:clrScheme>
    <a:fontScheme name="IVO Hackath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Что толкает аспирантов к мысли об отчислении</dc:title>
  <dc:subject>PptxGenJS Presentation</dc:subject>
  <dc:creator>PptxGenJS</dc:creator>
  <cp:lastModifiedBy>PptxGenJS</cp:lastModifiedBy>
  <cp:revision>1</cp:revision>
  <dcterms:created xsi:type="dcterms:W3CDTF">2026-10-09T12:58:30Z</dcterms:created>
  <dcterms:modified xsi:type="dcterms:W3CDTF">2026-10-09T12:58:30Z</dcterms:modified>
</cp:coreProperties>
</file>