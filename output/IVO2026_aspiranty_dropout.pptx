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f612aba6-fcfa-292c-7b15-88d4eb232e9b}">
          <p14:sldIdLst>
            <p14:sldId id="256"/>
          </p14:sldIdLst>
        </p14:section>
        <p14:section name="Вопрос и данные" id="{8c3f5aa2-ffe7-68a0-ac91-56741371e234}">
          <p14:sldIdLst>
            <p14:sldId id="257"/>
            <p14:sldId id="258"/>
          </p14:sldIdLst>
        </p14:section>
        <p14:section name="Методы" id="{4f60ec3f-d6e9-aa45-7a7e-c6e1bd9ffa53}">
          <p14:sldIdLst>
            <p14:sldId id="259"/>
          </p14:sldIdLst>
        </p14:section>
        <p14:section name="Результаты" id="{6f5a06c4-84ce-c25b-4144-e2ed74758c9a}">
          <p14:sldIdLst>
            <p14:sldId id="260"/>
            <p14:sldId id="261"/>
            <p14:sldId id="262"/>
            <p14:sldId id="263"/>
            <p14:sldId id="264"/>
          </p14:sldIdLst>
        </p14:section>
        <p14:section name="Выводы" id="{b78d92bd-abbf-d8ce-e8e9-d4344bb0729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14213D"/>
                </a:solidFill>
                <a:latin typeface="+mn-lt"/>
              </a:rPr>
              <a:t>Тип занятости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Тип занятости</c:v>
                </c:pt>
              </c:strCache>
            </c:strRef>
          </c:tx>
          <c:spPr>
            <a:solidFill>
              <a:srgbClr val="B9B8B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Нет</c:v>
                  </c:pt>
                  <c:pt idx="1">
                    <c:v>Подраб.</c:v>
                  </c:pt>
                  <c:pt idx="2">
                    <c:v>Неполн.</c:v>
                  </c:pt>
                  <c:pt idx="3">
                    <c:v>ПД вуз</c:v>
                  </c:pt>
                  <c:pt idx="4">
                    <c:v>ПД вне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0.2446</c:v>
                </c:pt>
                <c:pt idx="1">
                  <c:v>0.2146</c:v>
                </c:pt>
                <c:pt idx="2">
                  <c:v>0.1975</c:v>
                </c:pt>
                <c:pt idx="3">
                  <c:v>0.2088</c:v>
                </c:pt>
                <c:pt idx="4">
                  <c:v>0.2235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5E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14213D"/>
                </a:solidFill>
                <a:latin typeface="+mn-lt"/>
              </a:rPr>
              <a:t>Удовл. руководителем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Удовл. руководителем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Совсем нет</c:v>
                  </c:pt>
                  <c:pt idx="1">
                    <c:v>Скорее нет</c:v>
                  </c:pt>
                  <c:pt idx="2">
                    <c:v>Скорее да</c:v>
                  </c:pt>
                  <c:pt idx="3">
                    <c:v>Полн.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0.5497</c:v>
                </c:pt>
                <c:pt idx="1">
                  <c:v>0.6116</c:v>
                </c:pt>
                <c:pt idx="2">
                  <c:v>0.3203</c:v>
                </c:pt>
                <c:pt idx="3">
                  <c:v>0.1269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5E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14213D"/>
                </a:solidFill>
                <a:latin typeface="+mn-lt"/>
              </a:rPr>
              <a:t>Принадлежность (1–4)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Принадлежность (1–4)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≤2.5</c:v>
                  </c:pt>
                  <c:pt idx="1">
                    <c:v>2.5–3</c:v>
                  </c:pt>
                  <c:pt idx="2">
                    <c:v>3–3.5</c:v>
                  </c:pt>
                  <c:pt idx="3">
                    <c:v>3.5–4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0.5488</c:v>
                </c:pt>
                <c:pt idx="1">
                  <c:v>0.296</c:v>
                </c:pt>
                <c:pt idx="2">
                  <c:v>0.1883</c:v>
                </c:pt>
                <c:pt idx="3">
                  <c:v>0.0956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5E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14213D"/>
                </a:solidFill>
                <a:latin typeface="+mn-lt"/>
              </a:rPr>
              <a:t>Депр. симптомы PHQ-8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Депр. симптомы PHQ-8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0–4</c:v>
                  </c:pt>
                  <c:pt idx="1">
                    <c:v>5–9</c:v>
                  </c:pt>
                  <c:pt idx="2">
                    <c:v>10–14</c:v>
                  </c:pt>
                  <c:pt idx="3">
                    <c:v>15+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0.0929</c:v>
                </c:pt>
                <c:pt idx="1">
                  <c:v>0.22</c:v>
                </c:pt>
                <c:pt idx="2">
                  <c:v>0.3491</c:v>
                </c:pt>
                <c:pt idx="3">
                  <c:v>0.5221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5E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14213D"/>
                </a:solidFill>
                <a:latin typeface="+mn-lt"/>
              </a:rPr>
              <a:t>Вклад блока в псевдо-R² (декомпозиция Шепли)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Ментальное здоровье</c:v>
                  </c:pt>
                  <c:pt idx="1">
                    <c:v>Академическая среда</c:v>
                  </c:pt>
                  <c:pt idx="2">
                    <c:v>Мотивация</c:v>
                  </c:pt>
                  <c:pt idx="3">
                    <c:v>Научный руководитель</c:v>
                  </c:pt>
                  <c:pt idx="4">
                    <c:v>Соцдем и программа</c:v>
                  </c:pt>
                  <c:pt idx="5">
                    <c:v>Публикации</c:v>
                  </c:pt>
                  <c:pt idx="6">
                    <c:v>Занятость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0.25602044690783937</c:v>
                </c:pt>
                <c:pt idx="1">
                  <c:v>0.23339779000021796</c:v>
                </c:pt>
                <c:pt idx="2">
                  <c:v>0.21914941876452498</c:v>
                </c:pt>
                <c:pt idx="3">
                  <c:v>0.17712869965079045</c:v>
                </c:pt>
                <c:pt idx="4">
                  <c:v>0.07510857929843126</c:v>
                </c:pt>
                <c:pt idx="5">
                  <c:v>0.02273840728953265</c:v>
                </c:pt>
                <c:pt idx="6">
                  <c:v>0.016456658088663454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6E5E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FFFFFF"/>
                </a:solidFill>
                <a:latin typeface="+mn-lt"/>
              </a:rPr>
              <a:t>Снижение доли «хочу бросить», п.п. (база 20%)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Комплекс: встречи + принадлежность + помощь</c:v>
                  </c:pt>
                  <c:pt idx="1">
                    <c:v>Принадлежность ниже медианы → медиана</c:v>
                  </c:pt>
                  <c:pt idx="2">
                    <c:v>Психологическая помощь: −5 баллов PHQ-8 при PHQ ≥ 10</c:v>
                  </c:pt>
                  <c:pt idx="3">
                    <c:v>Встречи с руководителем ≥2 раз в месяц</c:v>
                  </c:pt>
                  <c:pt idx="4">
                    <c:v>Неудовлетворённые руководителем → «скорее удовлетворены»</c:v>
                  </c:pt>
                  <c:pt idx="5">
                    <c:v>Все работающие полный день уходят с работы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7.2</c:v>
                </c:pt>
                <c:pt idx="1">
                  <c:v>4.2</c:v>
                </c:pt>
                <c:pt idx="2">
                  <c:v>2</c:v>
                </c:pt>
                <c:pt idx="3">
                  <c:v>1.2</c:v>
                </c:pt>
                <c:pt idx="4">
                  <c:v>0.7</c:v>
                </c:pt>
                <c:pt idx="5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52627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 за 10 секунд: работа почти не связана с желанием уйти; решают руководитель, академическое сообщество и ментальное здоровье, а вузы с «конвейером защит» усиливают риск.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>
                    <a:alpha val="70000"/>
                  </a:schemeClr>
                </a:solidFill>
              </a:rPr>
              <a:t>Данные: Всероссийский опрос аспирантов 2021 (HSE-BR-2025-009); Мониторинг эффективности вузов 2022 (Минобрнауки)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Не работа, а среда: кто и почему хочет бросить аспирантуру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Связка двух массивов хакатона: опрос 5 007 аспирантов × Мониторинг эффективности вузов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Егор Чуланов · Хакатон исследователей высшего образования, Конференция ИВО 2026 · номинация «Анализ данных»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Вопрос: что на самом деле толкает аспирантов к мысли об уходе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07492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Почему это важно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Меньше 1 из 5 выпускников аспирантуры защищается в срок (ИСИЭЗ НИУ ВШЭ, Росстат)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Намерение уйти опережает отчисление: это сигнал, который вуз может поймать заранее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Расхожее объяснение: «уходят, потому что работают». Политика часто строится на нём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Если оно неверно, вузы тратят ресурс не туда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Исследовательский вопрос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7830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Что сильнее связано с желанием бросить аспирантуру: внешняя нагрузка или академическая среда, научное руководство и ментальное здоровье, и есть ли эффект самого вуза?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932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1089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Полная занятость вне вуза повышает риск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37124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124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Руководитель и среда весят больше, чем работа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43159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893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3159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Часть эффекта среды идёт через ментальное здоровье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89320" y="4919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93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91947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Принадлежность к кафедре защищает работающих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89320" y="55229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8932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52297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Характеристики вуза (МЭВ) меняют риск сверх индивидуальных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Данные: два массива хакатона, связанные на уровне вуза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Опрос аспирантов, 2021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5 007 респондентов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249 вузов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намерение уйти, руководитель, среда, PHQ-8, работа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+</a:t>
            </a:r>
            <a:endParaRPr lang="en-US" sz="2600" dirty="0"/>
          </a:p>
        </p:txBody>
      </p:sp>
      <p:sp>
        <p:nvSpPr>
          <p:cNvPr id="9" name="card"/>
          <p:cNvSpPr/>
          <p:nvPr/>
        </p:nvSpPr>
        <p:spPr>
          <a:xfrm>
            <a:off x="4343400" y="137160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55448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Мониторинг эффективности вузов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148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МЭВ-2022 (данные за 2021 год)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698 головных вузов, 400+ показателей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защиты НПР, аспиранты на 100 студентов, НИОКР, ЕГЭ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=</a:t>
            </a:r>
            <a:endParaRPr lang="en-US" sz="2600" dirty="0"/>
          </a:p>
        </p:txBody>
      </p:sp>
      <p:sp>
        <p:nvSpPr>
          <p:cNvPr id="15" name="card"/>
          <p:cNvSpPr/>
          <p:nvPr/>
        </p:nvSpPr>
        <p:spPr>
          <a:xfrm>
            <a:off x="8138160" y="137160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5544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Связанный массив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148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3 570 аспирантов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85 вузов с показателями МЭВ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нечёткое сопоставление названий + ручная проверка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60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22%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согласны: «Я часто хочу бросить аспирантуру»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4160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26%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 умеренными и выше депрессивными симптомами (PHQ-8 ≥ 10)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4160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α = 0.87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надёжность индекса академической принадлежности (6 пунктов)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4160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87%</a:t>
            </a:r>
            <a:endParaRPr lang="en-US" sz="44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анкет с полными ответами для моделей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Методы: семь инструментов, каждый отвечает на свой вопрос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40680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44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Логит-регрессия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кластерные ошибки по вузу; порядковый логит для проверки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4447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Что связано?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6172200" y="1325880"/>
            <a:ext cx="5440680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444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Декомпозиция Шепли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8288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вклад 7 блоков в псевдо-R² (128 моделей)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14447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Что важнее?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548640" y="2532888"/>
            <a:ext cx="5440680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Градиентный бустинг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358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5-fold CV AUC, перестановочная важность, нелинейности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2651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Предсказуемо ли?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172200" y="2532888"/>
            <a:ext cx="5440680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Кластеризация k-means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358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типы аспирантов по руководителю, среде, PHQ-8, интересу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2651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Кто в группе риска?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48640" y="3739896"/>
            <a:ext cx="5440680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Медиация и модерация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24281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бутстрэп косвенного эффекта; принадлежность × работа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385876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Как действует?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6172200" y="3739896"/>
            <a:ext cx="5440680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Многоуровневая модель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24281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вузы как уровень 2 + показатели МЭВ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84080" y="385876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Важен ли вуз?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548640" y="4946904"/>
            <a:ext cx="11094415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0657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G-computation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449824"/>
            <a:ext cx="8991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контрфактические сценарии мер с бутстрэп-ДИ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814255" y="5065776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Что даст политика?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Работа почти не меняет риск, а руководитель, среда и здоровье меняют его в 4–6 раз</a:t>
            </a:r>
            <a:endParaRPr lang="en-US" sz="26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Доля согласных с «Я часто хочу бросить аспирантуру» (в среднем 22%). ПД = полный день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2697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337560" y="1783080"/>
          <a:ext cx="2697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126480" y="1783080"/>
          <a:ext cx="2697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8915400" y="1783080"/>
          <a:ext cx="2697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card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77240" y="553212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Парадокс: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45% называют совмещение с работой серьёзной трудностью, но сам факт работы риск не меняет. Сопоставление по склонности (PSM, 1 971 пар): эффект полного дня вне вуза +0.6 п.п. [-1.7; 3.0]. H1 отвергнута.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Три фактора среды дают две трети объяснённого, занятость менее 2%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6583680" y="1325880"/>
            <a:ext cx="2377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6656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×1.82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2148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шансы на +1 SD депрессивных симптомов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9144000" y="1325880"/>
            <a:ext cx="2377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2688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×0.60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326880" y="2148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на +1 SD принадлежности к кафедре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583680" y="3154680"/>
            <a:ext cx="2377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×0.75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3977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на +1 SD удовлетворённости руководителем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9144000" y="3154680"/>
            <a:ext cx="2377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0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×0.96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3977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полный день вне вуза, p = 0.79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3492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Предсказательная сила: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логит AUC 0.83, бустинг 0.82 (5-fold CV) против 0.61 только на внешних факторах.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Скрининг: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20% аспирантов с наибольшим риском покрывают 55% всех, кто хочет уйти.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Устойчивость: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E-value для PHQ-8 2.0, для принадлежности 1.9: скрытый конфаундер должен быть сильным, чтобы обнулить связь.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Четыре типа аспирантов: риск различается в 11 раз, а доля работающих почти одинакова</a:t>
            </a:r>
            <a:endParaRPr lang="en-US" sz="2600" dirty="0"/>
          </a:p>
        </p:txBody>
      </p:sp>
      <p:pic>
        <p:nvPicPr>
          <p:cNvPr id="3" name="Image 0" descr="/home/user/khakatonIVO/output/figures/08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583680" cy="3950208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7406640" y="1325880"/>
            <a:ext cx="4251960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89520" y="1600200"/>
            <a:ext cx="502920" cy="5029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Вовлечённые · 47%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довольны руководителем, свои на кафедре, симптомов почти нет. Хотят уйти 5%, работают ПД вне вуза 45%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7406640" y="2532888"/>
            <a:ext cx="4251960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2807208"/>
            <a:ext cx="502920" cy="5029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2624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Отстранённые · 27%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29443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руководитель в порядке, но нет чувства принадлежности. Хотят уйти 23%, работают ПД вне вуза 50%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7406640" y="3739896"/>
            <a:ext cx="4251960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4014216"/>
            <a:ext cx="502920" cy="502920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38313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Выгорающие · 16%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41513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хорошая среда, но выраженные депрессивные симптомы. Хотят уйти 33%, работают ПД вне вуза 42%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7406640" y="4946904"/>
            <a:ext cx="4251960" cy="1069848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5221224"/>
            <a:ext cx="502920" cy="5029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5038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Без опоры на руководителя · 10%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53583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конфликт или отсутствие поддержки руководителя, слабая среда. Хотят уйти 59%, работают ПД вне вуза 48%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440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Кластеризация k-means по 4 стандартизованным признакам. Размер пузыря = доля аспирантов, число внутри = доля желающих уйти.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Механизмы: часть эффекта идёт через здоровье, а принадлежность защищает работающих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Медиация через PHQ-8 (бутстрэп)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Руководитель / принадлежность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182880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23160" y="182880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Депрессивные симптомы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3063240"/>
            <a:ext cx="17830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Хочу бросить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1463040" y="2194560"/>
            <a:ext cx="960120" cy="868680"/>
          </a:xfrm>
          <a:prstGeom prst="line">
            <a:avLst/>
          </a:prstGeom>
          <a:noFill/>
          <a:ln w="19050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60520" y="2194560"/>
            <a:ext cx="1051560" cy="868680"/>
          </a:xfrm>
          <a:prstGeom prst="line">
            <a:avLst/>
          </a:prstGeom>
          <a:noFill/>
          <a:ln w="19050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77440" y="3429000"/>
            <a:ext cx="1965960" cy="0"/>
          </a:xfrm>
          <a:prstGeom prst="line">
            <a:avLst/>
          </a:prstGeom>
          <a:noFill/>
          <a:ln w="19050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51460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прямой эффект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55778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46304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Руководитель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Принадлежность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Общий эффект, п.п. на 1 SD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-8.9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-10.6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Косвенный через PHQ-8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-1.2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-1.8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95% ДИ косвенного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-1.6…-0.9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-2.1…-1.3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Доля медиации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14%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17%</a:t>
                      </a:r>
                      <a:endParaRPr lang="en-US" sz="13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Модерация: принадлежность × работа</a:t>
            </a:r>
            <a:endParaRPr lang="en-US" sz="1700" dirty="0"/>
          </a:p>
        </p:txBody>
      </p:sp>
      <p:pic>
        <p:nvPicPr>
          <p:cNvPr id="16" name="Image 0" descr="/home/user/khakatonIVO/output/figures/05_inter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5257800" cy="32782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00800" y="512064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β = -0.27, p = 0.001: работа опасна только без академической опоры. При высокой принадлежности работающие по модели рискуют даже меньше.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Вуз тоже важен: в «конвейерах защит» аспиранты чаще хотят уйти</a:t>
            </a:r>
            <a:endParaRPr lang="en-US" sz="2600" dirty="0"/>
          </a:p>
        </p:txBody>
      </p:sp>
      <p:pic>
        <p:nvPicPr>
          <p:cNvPr id="3" name="Image 0" descr="/home/user/khakatonIVO/output/figures/06_univers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29269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2976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Оценки многоуровневой модели для 37 вузов с 30+ ответами, обезличено.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09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12%–31%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035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разброс доли «хочу бросить» между вузами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606040" y="4709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3.6%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2606040" y="53035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дисперсии на уровне вуза (ICC): главное внутри вуза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4709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1.40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53035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медианное отношение шансов между вузами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325880"/>
          <a:ext cx="4754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3152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Показатель МЭВ (+1 SD)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ОШ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p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Доля НПР, защитивших диссертации за год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</a:rPr>
                        <a:t>1.30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&lt;0.001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Аспиранты на 100 студентов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B6834"/>
                          </a:solidFill>
                        </a:rPr>
                        <a:t>1.17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0.049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Средний балл ЕГЭ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0.108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Доходы на 1 студента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1.19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0.086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Гранты на 100 НПР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0.98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0.710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Доля доходов от НИОКР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0.956</a:t>
                      </a:r>
                      <a:endParaRPr lang="en-US" sz="1200" dirty="0"/>
                    </a:p>
                  </a:txBody>
                  <a:tcPr marL="76200" marR="76200" marT="25400" marB="25400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card"/>
          <p:cNvSpPr/>
          <p:nvPr/>
        </p:nvSpPr>
        <p:spPr>
          <a:xfrm>
            <a:off x="6903720" y="3840480"/>
            <a:ext cx="475488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086600" y="397764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H5 подтверждена частично.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Там, где за год защищается больше сотрудников, шансы хотеть уйти выше на 30% при равных индивидуальных факторах (устойчиво без двух крупнейших вузов). Поддержка руководителя там важнее: взаимодействие β = -0.11, p = 0.02.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Вероятная причина: давление «защищайся быстрее» без ресурсов.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Что даст вузу каждая мера: симуляция на модели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43800" y="123444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Рекомендации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87452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Ежегодный скрининг PHQ-8 и путь к психологу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Стандарт: встреча с руководителем ≥ 2 раз в месяц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Аспирантские семинары и сообщество кафедры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Ранний сигнал: короткая анкета находит 20% группы риска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Не запрещать работу: это не помогает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Ограничения: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кросс-секционные данные (связи, не причинность), намерение вместо факта отчисления, онлайн-опрос весны 2021 года. Далее: лонгитюд и данные о фактических отчислениях.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8932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Исследование осуществлено в рамках Программы фундаментальных исследований НИУ ВШЭ (HSE-BR-2025-009). Авторы благодарят лабораторию «Развитие университетов» ИО НИУ ВШЭ за сводную базу МЭВ.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VO Hackathon">
  <a:themeElements>
    <a:clrScheme name="IVO Hackathon">
      <a:dk1>
        <a:srgbClr val="0B0B0B"/>
      </a:dk1>
      <a:lt1>
        <a:srgbClr val="FFFFFF"/>
      </a:lt1>
      <a:dk2>
        <a:srgbClr val="14213D"/>
      </a:dk2>
      <a:lt2>
        <a:srgbClr val="F1F4F9"/>
      </a:lt2>
      <a:accent1>
        <a:srgbClr val="2A78D6"/>
      </a:accent1>
      <a:accent2>
        <a:srgbClr val="EB6834"/>
      </a:accent2>
      <a:accent3>
        <a:srgbClr val="B9B8B2"/>
      </a:accent3>
      <a:accent4>
        <a:srgbClr val="1BAF7A"/>
      </a:accent4>
      <a:accent5>
        <a:srgbClr val="4A3AA7"/>
      </a:accent5>
      <a:accent6>
        <a:srgbClr val="E34948"/>
      </a:accent6>
      <a:hlink>
        <a:srgbClr val="2A78D6"/>
      </a:hlink>
      <a:folHlink>
        <a:srgbClr val="4A3AA7"/>
      </a:folHlink>
    </a:clrScheme>
    <a:fontScheme name="IVO Hackath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толкает аспирантов к мысли об отчислении</dc:title>
  <dc:subject>PptxGenJS Presentation</dc:subject>
  <dc:creator>PptxGenJS</dc:creator>
  <cp:lastModifiedBy>PptxGenJS</cp:lastModifiedBy>
  <cp:revision>1</cp:revision>
  <dcterms:created xsi:type="dcterms:W3CDTF">2026-10-09T15:36:01Z</dcterms:created>
  <dcterms:modified xsi:type="dcterms:W3CDTF">2026-10-09T15:36:01Z</dcterms:modified>
</cp:coreProperties>
</file>